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4"/>
  </p:notesMasterIdLst>
  <p:sldIdLst>
    <p:sldId id="268" r:id="rId2"/>
    <p:sldId id="257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jGWgrkm+9BTPebI3nf/sszv2hp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61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customschemas.google.com/relationships/presentationmetadata" Target="metadata"/><Relationship Id="rId2" Type="http://schemas.openxmlformats.org/officeDocument/2006/relationships/slide" Target="slides/slide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15B8C9">
                <a:alpha val="100000"/>
              </a:srgbClr>
            </a:solidFill>
            <a:effectLst/>
          </c:spPr>
          <c:invertIfNegative val="0"/>
          <c:dLbls>
            <c:numFmt formatCode="0.00\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E1A2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ELECTRA Small</c:v>
                </c:pt>
                <c:pt idx="1">
                  <c:v>Linear SVM
(TF-IDF)</c:v>
                </c:pt>
                <c:pt idx="2">
                  <c:v>Logistic Reg.
(TF-IDF)</c:v>
                </c:pt>
                <c:pt idx="3">
                  <c:v>Naive Bayes
(BoW)</c:v>
                </c:pt>
                <c:pt idx="4">
                  <c:v>XGBoost
(BoW)</c:v>
                </c:pt>
                <c:pt idx="5">
                  <c:v>Random Forest
(TF-IDF)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97.78</c:v>
                </c:pt>
                <c:pt idx="1">
                  <c:v>93.62</c:v>
                </c:pt>
                <c:pt idx="2">
                  <c:v>93.4</c:v>
                </c:pt>
                <c:pt idx="3">
                  <c:v>93.06</c:v>
                </c:pt>
                <c:pt idx="4">
                  <c:v>92.44</c:v>
                </c:pt>
                <c:pt idx="5">
                  <c:v>91.88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9E-4286-98EE-D2CBA5C0345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E1A2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90"/>
        </c:scaling>
        <c:delete val="0"/>
        <c:axPos val="b"/>
        <c:majorGridlines>
          <c:spPr>
            <a:ln w="6350" cap="flat">
              <a:solidFill>
                <a:srgbClr val="E3E7EC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B77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layout>
        <c:manualLayout>
          <c:xMode val="edge"/>
          <c:yMode val="edge"/>
          <c:x val="0.30553950064174967"/>
          <c:y val="2.734363069062249E-2"/>
        </c:manualLayout>
      </c:layout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invertIfNegative val="1"/>
          <c:cat>
            <c:strRef>
              <c:f>Sheet1!$A$2:$A$4</c:f>
              <c:strCache>
                <c:ptCount val="3"/>
                <c:pt idx="0">
                  <c:v>Epoch 1</c:v>
                </c:pt>
                <c:pt idx="1">
                  <c:v>Epoch 2</c:v>
                </c:pt>
                <c:pt idx="2">
                  <c:v>Epoch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97.019099999999995</c:v>
                </c:pt>
                <c:pt idx="1">
                  <c:v>97.500399999999999</c:v>
                </c:pt>
                <c:pt idx="2">
                  <c:v>97.779799999999994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A-45BF-A097-BDF7A55D625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8.2"/>
          <c:min val="96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/>
            </a:pPr>
            <a:endParaRPr lang="en-US"/>
          </a:p>
        </c:txPr>
        <c:crossAx val="-2068027336"/>
        <c:crosses val="autoZero"/>
        <c:crossBetween val="between"/>
        <c:majorUnit val="0.5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5" name="Google Shape;35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" name="Google Shape;36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" name="Google Shape;6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8" name="Google Shape;8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4" name="Google Shape;124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6" name="Google Shape;14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5" name="Google Shape;185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1" name="Google Shape;251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1" name="Google Shape;27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e1cd5a3c6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6" name="Google Shape;296;g3e1cd5a3c66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3e1cd5a3c66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A2B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Copied Picture 33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342082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2852B14C-1414-6A23-02EA-6BD48F2D708F}"/>
              </a:ext>
            </a:extLst>
          </p:cNvPr>
          <p:cNvGrpSpPr/>
          <p:nvPr/>
        </p:nvGrpSpPr>
        <p:grpSpPr>
          <a:xfrm>
            <a:off x="7531608" y="242455"/>
            <a:ext cx="2377440" cy="2377440"/>
            <a:chOff x="7836408" y="228600"/>
            <a:chExt cx="2377440" cy="2377440"/>
          </a:xfrm>
        </p:grpSpPr>
        <p:sp>
          <p:nvSpPr>
            <p:cNvPr id="16" name="Google Shape;16;p1"/>
            <p:cNvSpPr/>
            <p:nvPr/>
          </p:nvSpPr>
          <p:spPr>
            <a:xfrm>
              <a:off x="7836408" y="228600"/>
              <a:ext cx="2377440" cy="2377440"/>
            </a:xfrm>
            <a:prstGeom prst="ellipse">
              <a:avLst/>
            </a:prstGeom>
            <a:solidFill>
              <a:srgbClr val="0E1A2B"/>
            </a:solidFill>
            <a:ln w="50800" cap="flat" cmpd="sng">
              <a:solidFill>
                <a:srgbClr val="1FB17A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1"/>
            <p:cNvSpPr/>
            <p:nvPr/>
          </p:nvSpPr>
          <p:spPr>
            <a:xfrm>
              <a:off x="8037576" y="411480"/>
              <a:ext cx="2011680" cy="2011680"/>
            </a:xfrm>
            <a:prstGeom prst="ellipse">
              <a:avLst/>
            </a:prstGeom>
            <a:solidFill>
              <a:srgbClr val="0E1A2B"/>
            </a:solidFill>
            <a:ln w="50800" cap="flat" cmpd="sng">
              <a:solidFill>
                <a:srgbClr val="2C5BE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1"/>
            <p:cNvSpPr/>
            <p:nvPr/>
          </p:nvSpPr>
          <p:spPr>
            <a:xfrm>
              <a:off x="8238744" y="594360"/>
              <a:ext cx="1645920" cy="1645920"/>
            </a:xfrm>
            <a:prstGeom prst="ellipse">
              <a:avLst/>
            </a:prstGeom>
            <a:solidFill>
              <a:srgbClr val="0E1A2B"/>
            </a:solidFill>
            <a:ln w="50800" cap="flat" cmpd="sng">
              <a:solidFill>
                <a:srgbClr val="15B8C9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" name="Google Shape;19;p1"/>
          <p:cNvSpPr/>
          <p:nvPr/>
        </p:nvSpPr>
        <p:spPr>
          <a:xfrm>
            <a:off x="576349" y="577735"/>
            <a:ext cx="640080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Fake News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Calibri"/>
              <a:buNone/>
            </a:pPr>
            <a:r>
              <a:rPr lang="en-US" sz="5200" b="1" i="0" u="none" strike="noStrike" cap="none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Classifier</a:t>
            </a:r>
            <a:endParaRPr sz="52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B8C9"/>
              </a:buClr>
              <a:buSzPts val="1800"/>
              <a:buFont typeface="Calibri"/>
              <a:buNone/>
            </a:pPr>
            <a:r>
              <a:rPr lang="en-US" sz="1800" b="0" i="0" u="none" strike="noStrike" cap="none">
                <a:solidFill>
                  <a:srgbClr val="15B8C9"/>
                </a:solidFill>
                <a:latin typeface="Calibri"/>
                <a:ea typeface="Calibri"/>
                <a:cs typeface="Calibri"/>
                <a:sym typeface="Calibri"/>
              </a:rPr>
              <a:t>Model comparison and final results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269748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3C0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Logistic Regression  ·  Linear SVM  ·  Naive Bayes  ·  Random Forest  ·  </a:t>
            </a:r>
            <a:r>
              <a:rPr lang="en-US" sz="1100" b="0" i="0" u="none" strike="noStrike" cap="none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XGBoost</a:t>
            </a: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 ·  ELECTRA Small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3063240"/>
            <a:ext cx="1828800" cy="45720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548640" y="33375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B8C9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5B8C9"/>
                </a:solidFill>
                <a:latin typeface="Calibri"/>
                <a:ea typeface="Calibri"/>
                <a:cs typeface="Calibri"/>
                <a:sym typeface="Calibri"/>
              </a:rPr>
              <a:t>34,152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3977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training headlines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108960" y="33375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9,984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3108960" y="3977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test headlines predicted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669280" y="333756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23C"/>
              </a:buClr>
              <a:buSzPts val="3200"/>
              <a:buFont typeface="Calibri"/>
              <a:buNone/>
            </a:pPr>
            <a:r>
              <a:rPr lang="en-US" sz="3200" b="1" i="0" u="none" strike="noStrike" cap="none">
                <a:solidFill>
                  <a:srgbClr val="E8723C"/>
                </a:solidFill>
                <a:latin typeface="Calibri"/>
                <a:ea typeface="Calibri"/>
                <a:cs typeface="Calibri"/>
                <a:sym typeface="Calibri"/>
              </a:rPr>
              <a:t>97.78%</a:t>
            </a:r>
            <a:endParaRPr sz="3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669280" y="3977640"/>
            <a:ext cx="237744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best validation accuracy</a:t>
            </a:r>
            <a:endParaRPr sz="1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548640" y="3886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3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training headlines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3108960" y="3886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3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test headlines predicted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5669280" y="3886200"/>
            <a:ext cx="23774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3C0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best validation accuracy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548640" y="4617720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A8B3C0"/>
              </a:buClr>
              <a:buSzPts val="1200"/>
              <a:buFont typeface="Calibri"/>
              <a:buNone/>
            </a:pPr>
            <a:r>
              <a:rPr lang="en-US" sz="1200" b="0" i="1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By Irish  ·  Juan Álvaro  ·  Gregori</a:t>
            </a:r>
            <a:endParaRPr sz="1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96222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40277"/>
            <a:ext cx="9393382" cy="528377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38" name="Google Shape;38;p2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Dataset and target</a:t>
            </a:r>
            <a:endParaRPr sz="32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p2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2"/>
          <p:cNvSpPr/>
          <p:nvPr/>
        </p:nvSpPr>
        <p:spPr>
          <a:xfrm>
            <a:off x="548640" y="16916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2800"/>
              <a:buFont typeface="Calibri"/>
              <a:buNone/>
            </a:pPr>
            <a:r>
              <a:rPr lang="en-US" sz="2800" b="1" i="0" u="none" strike="noStrike" cap="none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34,152</a:t>
            </a:r>
            <a:endParaRPr sz="2800" b="0" i="0" u="none" strike="noStrike" cap="none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54864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raw training rows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377440" y="16916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B8C9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5B8C9"/>
                </a:solidFill>
                <a:latin typeface="Calibri"/>
                <a:ea typeface="Calibri"/>
                <a:cs typeface="Calibri"/>
                <a:sym typeface="Calibri"/>
              </a:rPr>
              <a:t>32,202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237744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final training rows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4206240" y="1691640"/>
            <a:ext cx="1828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2800"/>
              <a:buFont typeface="Calibri"/>
              <a:buNone/>
            </a:pPr>
            <a:r>
              <a:rPr lang="en-US" sz="2800" b="1" i="0" u="none" strike="noStrike" cap="none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6,441</a:t>
            </a:r>
            <a:endParaRPr sz="2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4206240" y="2331720"/>
            <a:ext cx="18288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validation rows (20%)</a:t>
            </a:r>
            <a:endParaRPr sz="10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548640" y="2788920"/>
            <a:ext cx="521208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We removed 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1,946 duplicate headlines</a:t>
            </a: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plus 4 rows whose cleaned text was empty after preprocessing.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dataset is almost balanced (≈49.8% fake / 50.2% real), so accuracy is a fair first metric.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Fake headlines are also a bit longer on average (</a:t>
            </a:r>
            <a:r>
              <a:rPr lang="en-US" sz="1100" b="1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84.6 vs 64.2 characters</a:t>
            </a:r>
            <a:r>
              <a:rPr lang="en-US" sz="1100" b="0" i="0" u="none" strike="noStrike" cap="none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), but length alone is not enough — we need vectorized language patterns.</a:t>
            </a:r>
            <a:endParaRPr sz="11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5943600" y="1691640"/>
            <a:ext cx="2743200" cy="118872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2"/>
          <p:cNvSpPr/>
          <p:nvPr/>
        </p:nvSpPr>
        <p:spPr>
          <a:xfrm>
            <a:off x="5943600" y="1691640"/>
            <a:ext cx="54864" cy="1188720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6172200" y="1828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Target variable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6172200" y="214884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r>
              <a:rPr lang="en-US" sz="110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 = fake news headline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110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 = real news headline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"/>
          <p:cNvSpPr/>
          <p:nvPr/>
        </p:nvSpPr>
        <p:spPr>
          <a:xfrm>
            <a:off x="5943600" y="3017520"/>
            <a:ext cx="2743200" cy="128016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"/>
          <p:cNvSpPr/>
          <p:nvPr/>
        </p:nvSpPr>
        <p:spPr>
          <a:xfrm>
            <a:off x="5943600" y="3017520"/>
            <a:ext cx="54864" cy="1280160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6172200" y="31546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6B7785"/>
                </a:solidFill>
                <a:latin typeface="Calibri"/>
                <a:ea typeface="Calibri"/>
                <a:cs typeface="Calibri"/>
                <a:sym typeface="Calibri"/>
              </a:rPr>
              <a:t>same test row count kept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6172200" y="3474720"/>
            <a:ext cx="242316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3200"/>
              <a:buFont typeface="Calibri"/>
              <a:buNone/>
            </a:pPr>
            <a:r>
              <a:rPr lang="en-US" sz="3200" b="1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9,984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Copied Picture 86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62" name="Google Shape;62;p3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Pipeline used in the notebook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" name="Google Shape;64;p3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" name="Google Shape;65;p3"/>
          <p:cNvSpPr/>
          <p:nvPr/>
        </p:nvSpPr>
        <p:spPr>
          <a:xfrm>
            <a:off x="914400" y="1691640"/>
            <a:ext cx="7315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notebook is not only a training script. It keeps the full ML workflow from raw text to the final prediction </a:t>
            </a:r>
            <a:r>
              <a:rPr lang="en-US" sz="1300" dirty="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file.</a:t>
            </a:r>
            <a:endParaRPr sz="13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594360" y="2606040"/>
            <a:ext cx="1097280" cy="822960"/>
          </a:xfrm>
          <a:prstGeom prst="rect">
            <a:avLst/>
          </a:prstGeom>
          <a:solidFill>
            <a:srgbClr val="DCEAFE"/>
          </a:solidFill>
          <a:ln w="12700" cap="flat" cmpd="sng">
            <a:solidFill>
              <a:srgbClr val="DC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5943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load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CSV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1691640" y="2606040"/>
            <a:ext cx="274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C2D1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B5C2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1965960" y="2606040"/>
            <a:ext cx="1097280" cy="822960"/>
          </a:xfrm>
          <a:prstGeom prst="rect">
            <a:avLst/>
          </a:prstGeom>
          <a:solidFill>
            <a:srgbClr val="DCEAFE"/>
          </a:solidFill>
          <a:ln w="12700" cap="flat" cmpd="sng">
            <a:solidFill>
              <a:srgbClr val="DCEA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19659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clean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063240" y="2606040"/>
            <a:ext cx="274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C2D1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B5C2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3337560" y="2606040"/>
            <a:ext cx="1097280" cy="822960"/>
          </a:xfrm>
          <a:prstGeom prst="rect">
            <a:avLst/>
          </a:prstGeom>
          <a:solidFill>
            <a:srgbClr val="D4F3E0"/>
          </a:solidFill>
          <a:ln w="12700" cap="flat" cmpd="sng">
            <a:solidFill>
              <a:srgbClr val="D4F3E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33375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vectorize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text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434840" y="2606040"/>
            <a:ext cx="274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C2D1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B5C2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709160" y="2606040"/>
            <a:ext cx="1097280" cy="822960"/>
          </a:xfrm>
          <a:prstGeom prst="rect">
            <a:avLst/>
          </a:prstGeom>
          <a:solidFill>
            <a:srgbClr val="C8EBD2"/>
          </a:solidFill>
          <a:ln w="12700" cap="flat" cmpd="sng">
            <a:solidFill>
              <a:srgbClr val="C8EBD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7091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train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models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5806440" y="2606040"/>
            <a:ext cx="274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C2D1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B5C2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080760" y="2606040"/>
            <a:ext cx="1097280" cy="822960"/>
          </a:xfrm>
          <a:prstGeom prst="rect">
            <a:avLst/>
          </a:prstGeom>
          <a:solidFill>
            <a:srgbClr val="FDE8A6"/>
          </a:solidFill>
          <a:ln w="12700" cap="flat" cmpd="sng">
            <a:solidFill>
              <a:srgbClr val="FDE8A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60807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178040" y="2606040"/>
            <a:ext cx="2743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B5C2D1"/>
              </a:buClr>
              <a:buSzPts val="1800"/>
              <a:buFont typeface="Calibri"/>
              <a:buNone/>
            </a:pPr>
            <a:r>
              <a:rPr lang="en-US" sz="1800" b="1">
                <a:solidFill>
                  <a:srgbClr val="B5C2D1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452360" y="2606040"/>
            <a:ext cx="1097280" cy="822960"/>
          </a:xfrm>
          <a:prstGeom prst="rect">
            <a:avLst/>
          </a:prstGeom>
          <a:solidFill>
            <a:srgbClr val="E4D8FA"/>
          </a:solidFill>
          <a:ln w="12700" cap="flat" cmpd="sng">
            <a:solidFill>
              <a:srgbClr val="E4D8F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7452360" y="2606040"/>
            <a:ext cx="109728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predict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test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914400" y="37947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Main idea: compare classic ML pipelines first, then add a transformer model to test whether contextual language understanding improves the result.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4114800" y="4434840"/>
            <a:ext cx="914400" cy="36576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4137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Copied Picture 105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91" name="Google Shape;91;p4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Vectorization mattered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3" name="Google Shape;93;p4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p4"/>
          <p:cNvSpPr/>
          <p:nvPr/>
        </p:nvSpPr>
        <p:spPr>
          <a:xfrm>
            <a:off x="548640" y="1691640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2000"/>
              <a:buFont typeface="Calibri"/>
              <a:buNone/>
            </a:pP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TF-IDF helped the linear models.</a:t>
            </a:r>
            <a:endParaRPr sz="20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48640" y="2331720"/>
            <a:ext cx="50292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Linear SVM gained the most from TF-IDF, because rare but informative words become more useful.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Naive Bayes worked better with Bag of Words because it naturally uses word counts.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sz="13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600"/>
              </a:spcBef>
              <a:spcAft>
                <a:spcPts val="0"/>
              </a:spcAft>
              <a:buClr>
                <a:srgbClr val="6B7785"/>
              </a:buClr>
              <a:buSzPts val="1300"/>
              <a:buFont typeface="Calibri"/>
              <a:buNone/>
            </a:pPr>
            <a:r>
              <a:rPr lang="en-US" sz="13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Both vectorizers used unigrams + bigrams, max 50k features, </a:t>
            </a:r>
            <a:r>
              <a:rPr lang="en-US" sz="13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min_df</a:t>
            </a:r>
            <a:r>
              <a:rPr lang="en-US" sz="13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=2.</a:t>
            </a:r>
            <a:endParaRPr sz="13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5943600" y="1691640"/>
            <a:ext cx="2743200" cy="118872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943600" y="1691640"/>
            <a:ext cx="54864" cy="1188720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6172200" y="182880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BoW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6172200" y="214884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= word counts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43600" y="3017520"/>
            <a:ext cx="2743200" cy="118872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43600" y="3017520"/>
            <a:ext cx="54864" cy="1188720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6172200" y="3154680"/>
            <a:ext cx="2423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TF-IDF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6172200" y="3474720"/>
            <a:ext cx="242316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= weighted terms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1192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Copied Picture 122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110" name="Google Shape;110;p5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Model scoreboard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12" name="Google Shape;112;p5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3" name="Google Shape;113;p5"/>
          <p:cNvSpPr/>
          <p:nvPr/>
        </p:nvSpPr>
        <p:spPr>
          <a:xfrm>
            <a:off x="548640" y="1691640"/>
            <a:ext cx="5029200" cy="2971800"/>
          </a:xfrm>
          <a:prstGeom prst="rect">
            <a:avLst/>
          </a:prstGeom>
          <a:solidFill>
            <a:srgbClr val="FFFFFF"/>
          </a:solidFill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548640" y="17830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Best validation accuracy per model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5" name="Google Shape;115;p5"/>
          <p:cNvGraphicFramePr/>
          <p:nvPr/>
        </p:nvGraphicFramePr>
        <p:xfrm>
          <a:off x="640080" y="2148840"/>
          <a:ext cx="484632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6" name="Google Shape;116;p5"/>
          <p:cNvSpPr/>
          <p:nvPr/>
        </p:nvSpPr>
        <p:spPr>
          <a:xfrm>
            <a:off x="5943600" y="169164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Calibri"/>
              <a:buNone/>
            </a:pPr>
            <a:r>
              <a:rPr lang="en-US" sz="11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Best validation model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5943600" y="1965960"/>
            <a:ext cx="27432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2000"/>
              <a:buFont typeface="Calibri"/>
              <a:buNone/>
            </a:pPr>
            <a:r>
              <a:rPr lang="en-US" sz="20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ELECTRA Small</a:t>
            </a:r>
            <a:endParaRPr sz="20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5943600" y="251460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3800"/>
              <a:buFont typeface="Calibri"/>
              <a:buNone/>
            </a:pPr>
            <a:r>
              <a:rPr lang="en-US" sz="38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97.78%</a:t>
            </a:r>
            <a:endParaRPr sz="38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5943600" y="3154680"/>
            <a:ext cx="27432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validation accuracy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5943600" y="3520440"/>
            <a:ext cx="2743200" cy="125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ELECTRA became the strongest model overall.</a:t>
            </a: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Linear SVM + TF-IDF remains the best classical ML model, but the transformer gained about +4.16 points because it reads words in context, not just as counts.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229470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Copied Picture 144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127" name="Google Shape;127;p6"/>
          <p:cNvSpPr/>
          <p:nvPr/>
        </p:nvSpPr>
        <p:spPr>
          <a:xfrm>
            <a:off x="548640" y="181494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548640" y="476596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What each model taught us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29" name="Google Shape;129;p6"/>
          <p:cNvCxnSpPr/>
          <p:nvPr/>
        </p:nvCxnSpPr>
        <p:spPr>
          <a:xfrm>
            <a:off x="548640" y="1299834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6"/>
          <p:cNvSpPr/>
          <p:nvPr/>
        </p:nvSpPr>
        <p:spPr>
          <a:xfrm>
            <a:off x="548640" y="1691640"/>
            <a:ext cx="8046720" cy="530352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48640" y="1691640"/>
            <a:ext cx="64008" cy="530352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804672" y="1691640"/>
            <a:ext cx="7726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5B8C9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5B8C9"/>
                </a:solidFill>
                <a:latin typeface="Calibri"/>
                <a:ea typeface="Calibri"/>
                <a:cs typeface="Calibri"/>
                <a:sym typeface="Calibri"/>
              </a:rPr>
              <a:t>ELECTRA Small: best overall score (97.78%), strong because it understands context inside the headline.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48640" y="2350008"/>
            <a:ext cx="8046720" cy="530352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548640" y="2350008"/>
            <a:ext cx="64008" cy="530352"/>
          </a:xfrm>
          <a:prstGeom prst="rect">
            <a:avLst/>
          </a:prstGeom>
          <a:solidFill>
            <a:srgbClr val="2C5BE5"/>
          </a:solidFill>
          <a:ln w="12700" cap="flat" cmpd="sng">
            <a:solidFill>
              <a:srgbClr val="2C5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804672" y="2350008"/>
            <a:ext cx="7726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Linear SVM: best classical model (93.62%), very strong with sparse TF-IDF text.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548640" y="3008376"/>
            <a:ext cx="8046720" cy="530352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548640" y="3008376"/>
            <a:ext cx="64008" cy="530352"/>
          </a:xfrm>
          <a:prstGeom prst="rect">
            <a:avLst/>
          </a:prstGeom>
          <a:solidFill>
            <a:srgbClr val="1FB17A"/>
          </a:solidFill>
          <a:ln w="12700" cap="flat" cmpd="sng">
            <a:solidFill>
              <a:srgbClr val="1FB1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804672" y="3008376"/>
            <a:ext cx="7726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Logistic Regression / Naive Bayes: fast, simple, explainable, and still very competitive.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548640" y="3666744"/>
            <a:ext cx="8046720" cy="530352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/>
          <p:nvPr/>
        </p:nvSpPr>
        <p:spPr>
          <a:xfrm>
            <a:off x="548640" y="3666744"/>
            <a:ext cx="64008" cy="530352"/>
          </a:xfrm>
          <a:prstGeom prst="rect">
            <a:avLst/>
          </a:prstGeom>
          <a:solidFill>
            <a:srgbClr val="E8723C"/>
          </a:solidFill>
          <a:ln w="12700" cap="flat" cmpd="sng">
            <a:solidFill>
              <a:srgbClr val="E8723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6"/>
          <p:cNvSpPr/>
          <p:nvPr/>
        </p:nvSpPr>
        <p:spPr>
          <a:xfrm>
            <a:off x="804672" y="3666744"/>
            <a:ext cx="7726680" cy="5303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23C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E8723C"/>
                </a:solidFill>
                <a:latin typeface="Calibri"/>
                <a:ea typeface="Calibri"/>
                <a:cs typeface="Calibri"/>
                <a:sym typeface="Calibri"/>
              </a:rPr>
              <a:t>Random Forest / XGBoost: decent, but sparse text vectors favored linear models and transformers.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6"/>
          <p:cNvSpPr/>
          <p:nvPr/>
        </p:nvSpPr>
        <p:spPr>
          <a:xfrm>
            <a:off x="548640" y="4370832"/>
            <a:ext cx="80467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300"/>
              <a:buFont typeface="Calibri"/>
              <a:buNone/>
            </a:pPr>
            <a:r>
              <a:rPr lang="en-US" sz="1300" b="1" i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Main lesson: classical models were easier to explain; ELECTRA gave the best predictive performance.</a:t>
            </a:r>
            <a:endParaRPr sz="13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6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76543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Copied Picture 160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-1" y="-193964"/>
            <a:ext cx="9494527" cy="5337464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149" name="Google Shape;149;p7"/>
          <p:cNvSpPr/>
          <p:nvPr/>
        </p:nvSpPr>
        <p:spPr>
          <a:xfrm>
            <a:off x="548640" y="133004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555567" y="448887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Final model evaluation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1" name="Google Shape;151;p7"/>
          <p:cNvCxnSpPr/>
          <p:nvPr/>
        </p:nvCxnSpPr>
        <p:spPr>
          <a:xfrm>
            <a:off x="548640" y="13136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5" name="Group 4">
            <a:extLst>
              <a:ext uri="{FF2B5EF4-FFF2-40B4-BE49-F238E27FC236}">
                <a16:creationId xmlns:a16="http://schemas.microsoft.com/office/drawing/2014/main" id="{267FF678-FB1D-BB1F-6293-A40626D6E555}"/>
              </a:ext>
            </a:extLst>
          </p:cNvPr>
          <p:cNvGrpSpPr/>
          <p:nvPr/>
        </p:nvGrpSpPr>
        <p:grpSpPr>
          <a:xfrm>
            <a:off x="590203" y="1546167"/>
            <a:ext cx="8321040" cy="1005840"/>
            <a:chOff x="548640" y="1691640"/>
            <a:chExt cx="8321040" cy="1005840"/>
          </a:xfrm>
        </p:grpSpPr>
        <p:sp>
          <p:nvSpPr>
            <p:cNvPr id="152" name="Google Shape;152;p7"/>
            <p:cNvSpPr/>
            <p:nvPr/>
          </p:nvSpPr>
          <p:spPr>
            <a:xfrm>
              <a:off x="548640" y="1691640"/>
              <a:ext cx="27432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2C5BE5"/>
                </a:buClr>
                <a:buSzPts val="3800"/>
                <a:buFont typeface="Calibri"/>
                <a:buNone/>
              </a:pPr>
              <a:r>
                <a:rPr lang="en-US" sz="3800" b="1" dirty="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97.78%</a:t>
              </a:r>
              <a:endParaRPr sz="3800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7"/>
            <p:cNvSpPr/>
            <p:nvPr/>
          </p:nvSpPr>
          <p:spPr>
            <a:xfrm>
              <a:off x="548640" y="2331720"/>
              <a:ext cx="2743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785"/>
                </a:buClr>
                <a:buSzPts val="1000"/>
                <a:buFont typeface="Calibri"/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validation accuracy</a:t>
              </a:r>
              <a:endParaRPr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p7"/>
            <p:cNvSpPr/>
            <p:nvPr/>
          </p:nvSpPr>
          <p:spPr>
            <a:xfrm>
              <a:off x="3383280" y="1691640"/>
              <a:ext cx="27432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E8723C"/>
                </a:buClr>
                <a:buSzPts val="3800"/>
                <a:buFont typeface="Calibri"/>
                <a:buNone/>
              </a:pPr>
              <a:r>
                <a:rPr lang="en-US" sz="3800" b="1" dirty="0">
                  <a:solidFill>
                    <a:srgbClr val="E8723C"/>
                  </a:solidFill>
                  <a:latin typeface="Calibri"/>
                  <a:ea typeface="Calibri"/>
                  <a:cs typeface="Calibri"/>
                  <a:sym typeface="Calibri"/>
                </a:rPr>
                <a:t>98%</a:t>
              </a:r>
              <a:endParaRPr sz="3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" name="Google Shape;155;p7"/>
            <p:cNvSpPr/>
            <p:nvPr/>
          </p:nvSpPr>
          <p:spPr>
            <a:xfrm>
              <a:off x="3383280" y="2331720"/>
              <a:ext cx="2743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785"/>
                </a:buClr>
                <a:buSzPts val="1000"/>
                <a:buFont typeface="Calibri"/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fake recall</a:t>
              </a:r>
              <a:endParaRPr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6" name="Google Shape;156;p7"/>
            <p:cNvSpPr/>
            <p:nvPr/>
          </p:nvSpPr>
          <p:spPr>
            <a:xfrm>
              <a:off x="6126480" y="1691640"/>
              <a:ext cx="2743200" cy="6400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1FB17A"/>
                </a:buClr>
                <a:buSzPts val="3800"/>
                <a:buFont typeface="Calibri"/>
                <a:buNone/>
              </a:pPr>
              <a:r>
                <a:rPr lang="en-US" sz="3800" b="1" dirty="0">
                  <a:solidFill>
                    <a:srgbClr val="1FB17A"/>
                  </a:solidFill>
                  <a:latin typeface="Calibri"/>
                  <a:ea typeface="Calibri"/>
                  <a:cs typeface="Calibri"/>
                  <a:sym typeface="Calibri"/>
                </a:rPr>
                <a:t>98%</a:t>
              </a:r>
              <a:endParaRPr sz="3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7" name="Google Shape;157;p7"/>
            <p:cNvSpPr/>
            <p:nvPr/>
          </p:nvSpPr>
          <p:spPr>
            <a:xfrm>
              <a:off x="6126480" y="2331720"/>
              <a:ext cx="2743200" cy="36576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6B7785"/>
                </a:buClr>
                <a:buSzPts val="1000"/>
                <a:buFont typeface="Calibri"/>
                <a:buNone/>
              </a:pPr>
              <a:r>
                <a:rPr lang="en-US" sz="120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real recall</a:t>
              </a:r>
              <a:endParaRPr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8" name="Google Shape;158;p7"/>
          <p:cNvSpPr/>
          <p:nvPr/>
        </p:nvSpPr>
        <p:spPr>
          <a:xfrm>
            <a:off x="514004" y="2733502"/>
            <a:ext cx="8229600" cy="1874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40"/>
              <a:buFont typeface="Calibri"/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On the 6,441 validation rows, ELECTRA misclassifies about 143 headlines — an error rate of only 2.22%.</a:t>
            </a: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Precision, recall and F1-score are balanced at about 0.98 for both fake and real news, so the model is not clearly biased toward one class.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Training improved across 3 epochs: validation accuracy went from 97.02% to 97.50% and finally to 97.78%.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Compared with the best classical model (93.62%), ELECTRA adds roughly +4.16 percentage points of validation accuracy.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59" name="Google Shape;159;p7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07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674621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Copied Picture 183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164" name="Google Shape;164;p8"/>
          <p:cNvSpPr txBox="1"/>
          <p:nvPr/>
        </p:nvSpPr>
        <p:spPr>
          <a:xfrm>
            <a:off x="548640" y="320040"/>
            <a:ext cx="8046720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</a:endParaRPr>
          </a:p>
        </p:txBody>
      </p:sp>
      <p:sp>
        <p:nvSpPr>
          <p:cNvPr id="165" name="Google Shape;165;p8"/>
          <p:cNvSpPr txBox="1"/>
          <p:nvPr/>
        </p:nvSpPr>
        <p:spPr>
          <a:xfrm>
            <a:off x="548640" y="594360"/>
            <a:ext cx="8046720" cy="4770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Transformer upgrade: ELECTRA Small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6" name="Google Shape;166;p8"/>
          <p:cNvSpPr/>
          <p:nvPr/>
        </p:nvSpPr>
        <p:spPr>
          <a:xfrm flipV="1">
            <a:off x="514005" y="1156855"/>
            <a:ext cx="8046720" cy="45997"/>
          </a:xfrm>
          <a:prstGeom prst="rect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8"/>
          <p:cNvSpPr txBox="1"/>
          <p:nvPr/>
        </p:nvSpPr>
        <p:spPr>
          <a:xfrm>
            <a:off x="570412" y="1614714"/>
            <a:ext cx="3474720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Why this model was added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168" name="Google Shape;168;p8"/>
          <p:cNvSpPr txBox="1"/>
          <p:nvPr/>
        </p:nvSpPr>
        <p:spPr>
          <a:xfrm>
            <a:off x="548640" y="1993392"/>
            <a:ext cx="3566160" cy="10002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ELECTRA uses a transformer architecture, so it does not only count words. It analyses the headline as a sequence and captures context between terms. That is why it can separate many ambiguous real/fake headlines better than TF-IDF models.</a:t>
            </a:r>
            <a:endParaRPr dirty="0">
              <a:solidFill>
                <a:schemeClr val="bg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59BD1A2-53F1-06A3-2B5C-E2CF0C44C951}"/>
              </a:ext>
            </a:extLst>
          </p:cNvPr>
          <p:cNvGrpSpPr/>
          <p:nvPr/>
        </p:nvGrpSpPr>
        <p:grpSpPr>
          <a:xfrm>
            <a:off x="253538" y="3538451"/>
            <a:ext cx="6629400" cy="660154"/>
            <a:chOff x="502920" y="3337560"/>
            <a:chExt cx="6629400" cy="660154"/>
          </a:xfrm>
        </p:grpSpPr>
        <p:sp>
          <p:nvSpPr>
            <p:cNvPr id="169" name="Google Shape;169;p8"/>
            <p:cNvSpPr txBox="1"/>
            <p:nvPr/>
          </p:nvSpPr>
          <p:spPr>
            <a:xfrm>
              <a:off x="502920" y="3337560"/>
              <a:ext cx="1691640" cy="4770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 dirty="0">
                  <a:solidFill>
                    <a:srgbClr val="FFFF00"/>
                  </a:solidFill>
                  <a:latin typeface="Calibri"/>
                  <a:ea typeface="Calibri"/>
                  <a:cs typeface="Calibri"/>
                  <a:sym typeface="Calibri"/>
                </a:rPr>
                <a:t>97.78%</a:t>
              </a:r>
              <a:endParaRPr dirty="0">
                <a:solidFill>
                  <a:srgbClr val="FFFF00"/>
                </a:solidFill>
              </a:endParaRPr>
            </a:p>
          </p:txBody>
        </p:sp>
        <p:sp>
          <p:nvSpPr>
            <p:cNvPr id="170" name="Google Shape;170;p8"/>
            <p:cNvSpPr txBox="1"/>
            <p:nvPr/>
          </p:nvSpPr>
          <p:spPr>
            <a:xfrm>
              <a:off x="502920" y="3813048"/>
              <a:ext cx="16916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validation accuracy</a:t>
              </a:r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71" name="Google Shape;171;p8"/>
            <p:cNvSpPr txBox="1"/>
            <p:nvPr/>
          </p:nvSpPr>
          <p:spPr>
            <a:xfrm>
              <a:off x="2148840" y="3337560"/>
              <a:ext cx="1691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1FB17A"/>
                  </a:solidFill>
                  <a:latin typeface="Calibri"/>
                  <a:ea typeface="Calibri"/>
                  <a:cs typeface="Calibri"/>
                  <a:sym typeface="Calibri"/>
                </a:rPr>
                <a:t>97.78%</a:t>
              </a:r>
              <a:endParaRPr/>
            </a:p>
          </p:txBody>
        </p:sp>
        <p:sp>
          <p:nvSpPr>
            <p:cNvPr id="172" name="Google Shape;172;p8"/>
            <p:cNvSpPr txBox="1"/>
            <p:nvPr/>
          </p:nvSpPr>
          <p:spPr>
            <a:xfrm>
              <a:off x="2148840" y="3813048"/>
              <a:ext cx="16916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weighted F1-score</a:t>
              </a:r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73" name="Google Shape;173;p8"/>
            <p:cNvSpPr txBox="1"/>
            <p:nvPr/>
          </p:nvSpPr>
          <p:spPr>
            <a:xfrm>
              <a:off x="3794760" y="3337560"/>
              <a:ext cx="1691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E8723C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  <p:sp>
          <p:nvSpPr>
            <p:cNvPr id="174" name="Google Shape;174;p8"/>
            <p:cNvSpPr txBox="1"/>
            <p:nvPr/>
          </p:nvSpPr>
          <p:spPr>
            <a:xfrm>
              <a:off x="3794760" y="3813048"/>
              <a:ext cx="16916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training epochs</a:t>
              </a:r>
              <a:endParaRPr sz="1200" dirty="0">
                <a:solidFill>
                  <a:schemeClr val="bg1"/>
                </a:solidFill>
              </a:endParaRPr>
            </a:p>
          </p:txBody>
        </p:sp>
        <p:sp>
          <p:nvSpPr>
            <p:cNvPr id="175" name="Google Shape;175;p8"/>
            <p:cNvSpPr txBox="1"/>
            <p:nvPr/>
          </p:nvSpPr>
          <p:spPr>
            <a:xfrm>
              <a:off x="5440680" y="3337560"/>
              <a:ext cx="1691640" cy="41148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100" b="1">
                  <a:solidFill>
                    <a:srgbClr val="15B8C9"/>
                  </a:solidFill>
                  <a:latin typeface="Calibri"/>
                  <a:ea typeface="Calibri"/>
                  <a:cs typeface="Calibri"/>
                  <a:sym typeface="Calibri"/>
                </a:rPr>
                <a:t>+4.16</a:t>
              </a:r>
              <a:endParaRPr/>
            </a:p>
          </p:txBody>
        </p:sp>
        <p:sp>
          <p:nvSpPr>
            <p:cNvPr id="176" name="Google Shape;176;p8"/>
            <p:cNvSpPr txBox="1"/>
            <p:nvPr/>
          </p:nvSpPr>
          <p:spPr>
            <a:xfrm>
              <a:off x="5440680" y="3813048"/>
              <a:ext cx="1691640" cy="1846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0" dirty="0">
                  <a:solidFill>
                    <a:schemeClr val="bg1"/>
                  </a:solidFill>
                  <a:latin typeface="Calibri"/>
                  <a:ea typeface="Calibri"/>
                  <a:cs typeface="Calibri"/>
                  <a:sym typeface="Calibri"/>
                </a:rPr>
                <a:t>points vs Linear SVM</a:t>
              </a:r>
              <a:endParaRPr sz="1200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FDEFBA9A-99DB-D7D4-718D-38FE9447721C}"/>
              </a:ext>
            </a:extLst>
          </p:cNvPr>
          <p:cNvGrpSpPr/>
          <p:nvPr/>
        </p:nvGrpSpPr>
        <p:grpSpPr>
          <a:xfrm>
            <a:off x="4347754" y="1302327"/>
            <a:ext cx="3992682" cy="2042490"/>
            <a:chOff x="4347754" y="1413164"/>
            <a:chExt cx="3867991" cy="1931653"/>
          </a:xfrm>
        </p:grpSpPr>
        <p:sp>
          <p:nvSpPr>
            <p:cNvPr id="177" name="Google Shape;177;p8"/>
            <p:cNvSpPr/>
            <p:nvPr/>
          </p:nvSpPr>
          <p:spPr>
            <a:xfrm>
              <a:off x="4347754" y="1413164"/>
              <a:ext cx="3867991" cy="1931653"/>
            </a:xfrm>
            <a:prstGeom prst="roundRect">
              <a:avLst>
                <a:gd name="adj" fmla="val 16667"/>
              </a:avLst>
            </a:prstGeom>
            <a:solidFill>
              <a:srgbClr val="F4F7FB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683CCE27-B0B1-DD0F-9AC7-E8A9AB221E67}"/>
                </a:ext>
              </a:extLst>
            </p:cNvPr>
            <p:cNvGrpSpPr/>
            <p:nvPr/>
          </p:nvGrpSpPr>
          <p:grpSpPr>
            <a:xfrm>
              <a:off x="4577238" y="1572186"/>
              <a:ext cx="3372394" cy="1637674"/>
              <a:chOff x="4584165" y="1592968"/>
              <a:chExt cx="3372394" cy="1637674"/>
            </a:xfrm>
          </p:grpSpPr>
          <p:sp>
            <p:nvSpPr>
              <p:cNvPr id="178" name="Google Shape;178;p8"/>
              <p:cNvSpPr txBox="1"/>
              <p:nvPr/>
            </p:nvSpPr>
            <p:spPr>
              <a:xfrm>
                <a:off x="4587601" y="1592968"/>
                <a:ext cx="329184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0" tIns="0" rIns="0" bIns="0" anchor="t" anchorCtr="0">
                <a:sp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200" b="1" dirty="0">
                    <a:solidFill>
                      <a:srgbClr val="0E1A2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Validation accuracy by epoch</a:t>
                </a:r>
                <a:endParaRPr dirty="0"/>
              </a:p>
            </p:txBody>
          </p:sp>
          <p:graphicFrame>
            <p:nvGraphicFramePr>
              <p:cNvPr id="179" name="Google Shape;179;p8"/>
              <p:cNvGraphicFramePr/>
              <p:nvPr>
                <p:extLst>
                  <p:ext uri="{D42A27DB-BD31-4B8C-83A1-F6EECF244321}">
                    <p14:modId xmlns:p14="http://schemas.microsoft.com/office/powerpoint/2010/main" val="3038992450"/>
                  </p:ext>
                </p:extLst>
              </p:nvPr>
            </p:nvGraphicFramePr>
            <p:xfrm>
              <a:off x="4584165" y="1837270"/>
              <a:ext cx="3372394" cy="1393372"/>
            </p:xfrm>
            <a:graphic>
              <a:graphicData uri="http://schemas.openxmlformats.org/drawingml/2006/chart">
                <c:chart xmlns:c="http://schemas.openxmlformats.org/drawingml/2006/chart" xmlns:r="http://schemas.openxmlformats.org/officeDocument/2006/relationships" r:id="rId4"/>
              </a:graphicData>
            </a:graphic>
          </p:graphicFrame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BBB7A4B-7512-CFD1-1C52-68C57D7804F1}"/>
              </a:ext>
            </a:extLst>
          </p:cNvPr>
          <p:cNvGrpSpPr/>
          <p:nvPr/>
        </p:nvGrpSpPr>
        <p:grpSpPr>
          <a:xfrm>
            <a:off x="479367" y="4480837"/>
            <a:ext cx="6949440" cy="475488"/>
            <a:chOff x="548640" y="4224528"/>
            <a:chExt cx="6949440" cy="475488"/>
          </a:xfrm>
        </p:grpSpPr>
        <p:sp>
          <p:nvSpPr>
            <p:cNvPr id="180" name="Google Shape;180;p8"/>
            <p:cNvSpPr/>
            <p:nvPr/>
          </p:nvSpPr>
          <p:spPr>
            <a:xfrm>
              <a:off x="548640" y="4224528"/>
              <a:ext cx="6949440" cy="475488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 txBox="1"/>
            <p:nvPr/>
          </p:nvSpPr>
          <p:spPr>
            <a:xfrm>
              <a:off x="677237" y="4268942"/>
              <a:ext cx="6583680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" b="1" dirty="0">
                  <a:solidFill>
                    <a:schemeClr val="tx1"/>
                  </a:solidFill>
                  <a:latin typeface="Calibri"/>
                  <a:ea typeface="Calibri"/>
                  <a:cs typeface="Calibri"/>
                  <a:sym typeface="Calibri"/>
                </a:rPr>
                <a:t>Conclusion: ELECTRA becomes the final strongest model, while Linear SVM remains the best explainable classical baseline.</a:t>
              </a:r>
              <a:endParaRPr dirty="0">
                <a:solidFill>
                  <a:schemeClr val="tx1"/>
                </a:solidFill>
              </a:endParaRPr>
            </a:p>
          </p:txBody>
        </p:sp>
      </p:grpSp>
      <p:sp>
        <p:nvSpPr>
          <p:cNvPr id="182" name="Google Shape;182;p8"/>
          <p:cNvSpPr txBox="1"/>
          <p:nvPr/>
        </p:nvSpPr>
        <p:spPr>
          <a:xfrm>
            <a:off x="9144000" y="4768734"/>
            <a:ext cx="640080" cy="1538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08</a:t>
            </a:r>
            <a:endParaRPr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65392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Copied Picture 249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413657"/>
            <a:ext cx="9398000" cy="5557157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188" name="Google Shape;188;p9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What the Linear SVM learned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90" name="Google Shape;190;p9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91" name="Google Shape;191;p9"/>
          <p:cNvSpPr/>
          <p:nvPr/>
        </p:nvSpPr>
        <p:spPr>
          <a:xfrm>
            <a:off x="548640" y="164592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800"/>
              <a:buFont typeface="Calibri"/>
              <a:buNone/>
            </a:pPr>
            <a:r>
              <a:rPr lang="en-US" sz="18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This slide explains the best classical model, not the transformer.</a:t>
            </a:r>
            <a:endParaRPr sz="18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48640" y="20574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1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Top stemmed tokens from the Linear SVM weights: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548640" y="2468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D94F4F"/>
              </a:buClr>
              <a:buSzPts val="1100"/>
              <a:buFont typeface="Calibri"/>
              <a:buNone/>
            </a:pPr>
            <a:r>
              <a:rPr lang="en-US" sz="1100" b="1" dirty="0">
                <a:solidFill>
                  <a:srgbClr val="D94F4F"/>
                </a:solidFill>
                <a:latin typeface="Calibri"/>
                <a:ea typeface="Calibri"/>
                <a:cs typeface="Calibri"/>
                <a:sym typeface="Calibri"/>
              </a:rPr>
              <a:t>↓ PUSHES TOWARD FAKE (0)</a:t>
            </a:r>
            <a:endParaRPr sz="11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9"/>
          <p:cNvSpPr/>
          <p:nvPr/>
        </p:nvSpPr>
        <p:spPr>
          <a:xfrm>
            <a:off x="4663440" y="246888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↑ PUSHES TOWARD REAL (1)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9"/>
          <p:cNvSpPr/>
          <p:nvPr/>
        </p:nvSpPr>
        <p:spPr>
          <a:xfrm>
            <a:off x="548640" y="278892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9"/>
          <p:cNvSpPr/>
          <p:nvPr/>
        </p:nvSpPr>
        <p:spPr>
          <a:xfrm>
            <a:off x="548640" y="278892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video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9"/>
          <p:cNvSpPr/>
          <p:nvPr/>
        </p:nvSpPr>
        <p:spPr>
          <a:xfrm>
            <a:off x="1202436" y="278892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9"/>
          <p:cNvSpPr/>
          <p:nvPr/>
        </p:nvSpPr>
        <p:spPr>
          <a:xfrm>
            <a:off x="1202436" y="278892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gop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9"/>
          <p:cNvSpPr/>
          <p:nvPr/>
        </p:nvSpPr>
        <p:spPr>
          <a:xfrm>
            <a:off x="1719072" y="2788920"/>
            <a:ext cx="69951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/>
          <p:nvPr/>
        </p:nvSpPr>
        <p:spPr>
          <a:xfrm>
            <a:off x="1719072" y="2788920"/>
            <a:ext cx="6995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hillari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9"/>
          <p:cNvSpPr/>
          <p:nvPr/>
        </p:nvSpPr>
        <p:spPr>
          <a:xfrm>
            <a:off x="2510028" y="278892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9"/>
          <p:cNvSpPr/>
          <p:nvPr/>
        </p:nvSpPr>
        <p:spPr>
          <a:xfrm>
            <a:off x="2510028" y="278892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break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9"/>
          <p:cNvSpPr/>
          <p:nvPr/>
        </p:nvSpPr>
        <p:spPr>
          <a:xfrm>
            <a:off x="3163824" y="2788920"/>
            <a:ext cx="63093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9"/>
          <p:cNvSpPr/>
          <p:nvPr/>
        </p:nvSpPr>
        <p:spPr>
          <a:xfrm>
            <a:off x="3163824" y="2788920"/>
            <a:ext cx="630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racist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9"/>
          <p:cNvSpPr/>
          <p:nvPr/>
        </p:nvSpPr>
        <p:spPr>
          <a:xfrm>
            <a:off x="548640" y="3154680"/>
            <a:ext cx="104241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9"/>
          <p:cNvSpPr/>
          <p:nvPr/>
        </p:nvSpPr>
        <p:spPr>
          <a:xfrm>
            <a:off x="548640" y="3154680"/>
            <a:ext cx="10424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presid trump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9"/>
          <p:cNvSpPr/>
          <p:nvPr/>
        </p:nvSpPr>
        <p:spPr>
          <a:xfrm>
            <a:off x="1682496" y="3154680"/>
            <a:ext cx="49377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9"/>
          <p:cNvSpPr/>
          <p:nvPr/>
        </p:nvSpPr>
        <p:spPr>
          <a:xfrm>
            <a:off x="1682496" y="315468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huge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9"/>
          <p:cNvSpPr/>
          <p:nvPr/>
        </p:nvSpPr>
        <p:spPr>
          <a:xfrm>
            <a:off x="2267712" y="315468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9"/>
          <p:cNvSpPr/>
          <p:nvPr/>
        </p:nvSpPr>
        <p:spPr>
          <a:xfrm>
            <a:off x="2267712" y="315468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lie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9"/>
          <p:cNvSpPr/>
          <p:nvPr/>
        </p:nvSpPr>
        <p:spPr>
          <a:xfrm>
            <a:off x="2784348" y="315468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9"/>
          <p:cNvSpPr/>
          <p:nvPr/>
        </p:nvSpPr>
        <p:spPr>
          <a:xfrm>
            <a:off x="2784348" y="315468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dem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9"/>
          <p:cNvSpPr/>
          <p:nvPr/>
        </p:nvSpPr>
        <p:spPr>
          <a:xfrm>
            <a:off x="3300984" y="315468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9"/>
          <p:cNvSpPr/>
          <p:nvPr/>
        </p:nvSpPr>
        <p:spPr>
          <a:xfrm>
            <a:off x="3300984" y="315468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shock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9"/>
          <p:cNvSpPr/>
          <p:nvPr/>
        </p:nvSpPr>
        <p:spPr>
          <a:xfrm>
            <a:off x="3954780" y="315468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954780" y="315468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/>
          <p:nvPr/>
        </p:nvSpPr>
        <p:spPr>
          <a:xfrm>
            <a:off x="548640" y="3520440"/>
            <a:ext cx="76809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9"/>
          <p:cNvSpPr/>
          <p:nvPr/>
        </p:nvSpPr>
        <p:spPr>
          <a:xfrm>
            <a:off x="548640" y="3520440"/>
            <a:ext cx="7680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bombshel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9"/>
          <p:cNvSpPr/>
          <p:nvPr/>
        </p:nvSpPr>
        <p:spPr>
          <a:xfrm>
            <a:off x="1408176" y="3520440"/>
            <a:ext cx="630936" cy="274320"/>
          </a:xfrm>
          <a:prstGeom prst="roundRect">
            <a:avLst>
              <a:gd name="adj" fmla="val 46667"/>
            </a:avLst>
          </a:prstGeom>
          <a:solidFill>
            <a:srgbClr val="FCE5E5"/>
          </a:solidFill>
          <a:ln w="12700" cap="flat" cmpd="sng">
            <a:solidFill>
              <a:srgbClr val="FCE5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9"/>
          <p:cNvSpPr/>
          <p:nvPr/>
        </p:nvSpPr>
        <p:spPr>
          <a:xfrm>
            <a:off x="1408176" y="3520440"/>
            <a:ext cx="630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A8312E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A8312E"/>
                </a:solidFill>
                <a:latin typeface="Calibri"/>
                <a:ea typeface="Calibri"/>
                <a:cs typeface="Calibri"/>
                <a:sym typeface="Calibri"/>
              </a:rPr>
              <a:t>humili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9"/>
          <p:cNvSpPr/>
          <p:nvPr/>
        </p:nvSpPr>
        <p:spPr>
          <a:xfrm>
            <a:off x="4663440" y="2788920"/>
            <a:ext cx="69951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9"/>
          <p:cNvSpPr/>
          <p:nvPr/>
        </p:nvSpPr>
        <p:spPr>
          <a:xfrm>
            <a:off x="4663440" y="2788920"/>
            <a:ext cx="6995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factbox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9"/>
          <p:cNvSpPr/>
          <p:nvPr/>
        </p:nvSpPr>
        <p:spPr>
          <a:xfrm>
            <a:off x="5454396" y="278892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9"/>
          <p:cNvSpPr/>
          <p:nvPr/>
        </p:nvSpPr>
        <p:spPr>
          <a:xfrm>
            <a:off x="5454396" y="278892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say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9"/>
          <p:cNvSpPr/>
          <p:nvPr/>
        </p:nvSpPr>
        <p:spPr>
          <a:xfrm>
            <a:off x="5971032" y="2788920"/>
            <a:ext cx="42519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9"/>
          <p:cNvSpPr/>
          <p:nvPr/>
        </p:nvSpPr>
        <p:spPr>
          <a:xfrm>
            <a:off x="5971032" y="2788920"/>
            <a:ext cx="4251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urg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9"/>
          <p:cNvSpPr/>
          <p:nvPr/>
        </p:nvSpPr>
        <p:spPr>
          <a:xfrm>
            <a:off x="6487668" y="2788920"/>
            <a:ext cx="49377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9"/>
          <p:cNvSpPr/>
          <p:nvPr/>
        </p:nvSpPr>
        <p:spPr>
          <a:xfrm>
            <a:off x="6487668" y="2788920"/>
            <a:ext cx="4937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seek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9"/>
          <p:cNvSpPr/>
          <p:nvPr/>
        </p:nvSpPr>
        <p:spPr>
          <a:xfrm>
            <a:off x="7072884" y="278892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9"/>
          <p:cNvSpPr/>
          <p:nvPr/>
        </p:nvSpPr>
        <p:spPr>
          <a:xfrm>
            <a:off x="7072884" y="278892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china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9"/>
          <p:cNvSpPr/>
          <p:nvPr/>
        </p:nvSpPr>
        <p:spPr>
          <a:xfrm>
            <a:off x="7726680" y="278892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7726680" y="278892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probe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4663440" y="3154680"/>
            <a:ext cx="83667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9"/>
          <p:cNvSpPr/>
          <p:nvPr/>
        </p:nvSpPr>
        <p:spPr>
          <a:xfrm>
            <a:off x="4663440" y="3154680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tillerson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9"/>
          <p:cNvSpPr/>
          <p:nvPr/>
        </p:nvSpPr>
        <p:spPr>
          <a:xfrm>
            <a:off x="5591556" y="3154680"/>
            <a:ext cx="69951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9"/>
          <p:cNvSpPr/>
          <p:nvPr/>
        </p:nvSpPr>
        <p:spPr>
          <a:xfrm>
            <a:off x="5591556" y="3154680"/>
            <a:ext cx="69951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zimbabw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9"/>
          <p:cNvSpPr/>
          <p:nvPr/>
        </p:nvSpPr>
        <p:spPr>
          <a:xfrm>
            <a:off x="6382512" y="315468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9"/>
          <p:cNvSpPr/>
          <p:nvPr/>
        </p:nvSpPr>
        <p:spPr>
          <a:xfrm>
            <a:off x="6382512" y="315468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senat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9"/>
          <p:cNvSpPr/>
          <p:nvPr/>
        </p:nvSpPr>
        <p:spPr>
          <a:xfrm>
            <a:off x="7036308" y="3154680"/>
            <a:ext cx="63093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9"/>
          <p:cNvSpPr/>
          <p:nvPr/>
        </p:nvSpPr>
        <p:spPr>
          <a:xfrm>
            <a:off x="7036308" y="3154680"/>
            <a:ext cx="63093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exclus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9"/>
          <p:cNvSpPr/>
          <p:nvPr/>
        </p:nvSpPr>
        <p:spPr>
          <a:xfrm>
            <a:off x="7758684" y="3154680"/>
            <a:ext cx="56235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9"/>
          <p:cNvSpPr/>
          <p:nvPr/>
        </p:nvSpPr>
        <p:spPr>
          <a:xfrm>
            <a:off x="7758684" y="3154680"/>
            <a:ext cx="56235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sourc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9"/>
          <p:cNvSpPr/>
          <p:nvPr/>
        </p:nvSpPr>
        <p:spPr>
          <a:xfrm>
            <a:off x="4663440" y="3520440"/>
            <a:ext cx="83667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9"/>
          <p:cNvSpPr/>
          <p:nvPr/>
        </p:nvSpPr>
        <p:spPr>
          <a:xfrm>
            <a:off x="4663440" y="3520440"/>
            <a:ext cx="83667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spokesman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9"/>
          <p:cNvSpPr/>
          <p:nvPr/>
        </p:nvSpPr>
        <p:spPr>
          <a:xfrm>
            <a:off x="5591556" y="3520440"/>
            <a:ext cx="768096" cy="274320"/>
          </a:xfrm>
          <a:prstGeom prst="roundRect">
            <a:avLst>
              <a:gd name="adj" fmla="val 46667"/>
            </a:avLst>
          </a:prstGeom>
          <a:solidFill>
            <a:srgbClr val="D6F0E1"/>
          </a:solidFill>
          <a:ln w="12700" cap="flat" cmpd="sng">
            <a:solidFill>
              <a:srgbClr val="D6F0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9"/>
          <p:cNvSpPr/>
          <p:nvPr/>
        </p:nvSpPr>
        <p:spPr>
          <a:xfrm>
            <a:off x="5591556" y="3520440"/>
            <a:ext cx="768096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37A4F"/>
              </a:buClr>
              <a:buSzPts val="1000"/>
              <a:buFont typeface="Calibri"/>
              <a:buNone/>
            </a:pPr>
            <a:r>
              <a:rPr lang="en-US" sz="1000" b="1">
                <a:solidFill>
                  <a:srgbClr val="137A4F"/>
                </a:solidFill>
                <a:latin typeface="Calibri"/>
                <a:ea typeface="Calibri"/>
                <a:cs typeface="Calibri"/>
                <a:sym typeface="Calibri"/>
              </a:rPr>
              <a:t>sanction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548640" y="443484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Words appear stemmed (e.g. "</a:t>
            </a:r>
            <a:r>
              <a:rPr lang="en-US" sz="1200" i="1" dirty="0" err="1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hillari</a:t>
            </a:r>
            <a:r>
              <a:rPr lang="en-US" sz="1200" i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", "break") because preprocessing reduces every word to its root form before vectorization.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09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2122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Copied Picture 269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254" name="Google Shape;254;p10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0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Final predictions and deliverables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6" name="Google Shape;256;p10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57" name="Google Shape;257;p10"/>
          <p:cNvSpPr/>
          <p:nvPr/>
        </p:nvSpPr>
        <p:spPr>
          <a:xfrm>
            <a:off x="548640" y="169164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300"/>
              <a:buFont typeface="Calibri"/>
              <a:buNone/>
            </a:pPr>
            <a:r>
              <a:rPr lang="en-US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The final notebook now includes two deliverables: the classical ML prediction file and the additional ELECTRA transformer prediction file.</a:t>
            </a:r>
            <a:endParaRPr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0"/>
          <p:cNvSpPr/>
          <p:nvPr/>
        </p:nvSpPr>
        <p:spPr>
          <a:xfrm>
            <a:off x="548640" y="2423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3600"/>
              <a:buFont typeface="Calibri"/>
              <a:buNone/>
            </a:pPr>
            <a:r>
              <a:rPr lang="en-US" sz="3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9,984</a:t>
            </a:r>
            <a:endParaRPr sz="3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0"/>
          <p:cNvSpPr/>
          <p:nvPr/>
        </p:nvSpPr>
        <p:spPr>
          <a:xfrm>
            <a:off x="548640" y="3063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final test rows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0"/>
          <p:cNvSpPr/>
          <p:nvPr/>
        </p:nvSpPr>
        <p:spPr>
          <a:xfrm>
            <a:off x="3383280" y="2423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723C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E8723C"/>
                </a:solidFill>
                <a:latin typeface="Calibri"/>
                <a:ea typeface="Calibri"/>
                <a:cs typeface="Calibri"/>
                <a:sym typeface="Calibri"/>
              </a:rPr>
              <a:t>5,001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0"/>
          <p:cNvSpPr/>
          <p:nvPr/>
        </p:nvSpPr>
        <p:spPr>
          <a:xfrm>
            <a:off x="3383280" y="3063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ELECTRA fake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0"/>
          <p:cNvSpPr/>
          <p:nvPr/>
        </p:nvSpPr>
        <p:spPr>
          <a:xfrm>
            <a:off x="6126480" y="2423160"/>
            <a:ext cx="27432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3600"/>
              <a:buFont typeface="Calibri"/>
              <a:buNone/>
            </a:pPr>
            <a:r>
              <a:rPr lang="en-US" sz="3600" b="1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4,983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0"/>
          <p:cNvSpPr/>
          <p:nvPr/>
        </p:nvSpPr>
        <p:spPr>
          <a:xfrm>
            <a:off x="6126480" y="3063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ELECTRA real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0"/>
          <p:cNvSpPr/>
          <p:nvPr/>
        </p:nvSpPr>
        <p:spPr>
          <a:xfrm>
            <a:off x="548639" y="3616036"/>
            <a:ext cx="5083233" cy="1093124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10"/>
          <p:cNvSpPr/>
          <p:nvPr/>
        </p:nvSpPr>
        <p:spPr>
          <a:xfrm>
            <a:off x="548640" y="3616036"/>
            <a:ext cx="67887" cy="1093123"/>
          </a:xfrm>
          <a:prstGeom prst="rect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0"/>
          <p:cNvSpPr/>
          <p:nvPr/>
        </p:nvSpPr>
        <p:spPr>
          <a:xfrm>
            <a:off x="777240" y="3751811"/>
            <a:ext cx="4709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300"/>
              <a:buFont typeface="Calibri"/>
              <a:buNone/>
            </a:pPr>
            <a:r>
              <a:rPr lang="en-US" sz="1300" b="1" dirty="0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outputs_predictions.csv</a:t>
            </a:r>
            <a:endParaRPr sz="12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dirty="0">
                <a:solidFill>
                  <a:srgbClr val="2C5BE5"/>
                </a:solidFill>
                <a:latin typeface="Calibri"/>
                <a:ea typeface="Calibri"/>
                <a:cs typeface="Calibri"/>
                <a:sym typeface="Calibri"/>
              </a:rPr>
              <a:t>outputs_predictions_electra_correct_format.csv</a:t>
            </a:r>
            <a:endParaRPr dirty="0"/>
          </a:p>
        </p:txBody>
      </p:sp>
      <p:sp>
        <p:nvSpPr>
          <p:cNvPr id="267" name="Google Shape;267;p10"/>
          <p:cNvSpPr/>
          <p:nvPr/>
        </p:nvSpPr>
        <p:spPr>
          <a:xfrm>
            <a:off x="777240" y="4217324"/>
            <a:ext cx="47091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1050"/>
              <a:buFont typeface="Calibri"/>
              <a:buNone/>
            </a:pPr>
            <a:r>
              <a:rPr lang="en-US" sz="1200" dirty="0">
                <a:solidFill>
                  <a:schemeClr val="tx1"/>
                </a:solidFill>
                <a:latin typeface="Calibri"/>
                <a:ea typeface="Calibri"/>
                <a:cs typeface="Calibri"/>
                <a:sym typeface="Calibri"/>
              </a:rPr>
              <a:t>Both files keep the required format: first column replaced with predicted label 0 or 1, using the same 9,984 test headlines.</a:t>
            </a:r>
            <a:endParaRPr sz="12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0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246182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4" name="Copied Picture 294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274" name="Google Shape;274;p11"/>
          <p:cNvSpPr/>
          <p:nvPr/>
        </p:nvSpPr>
        <p:spPr>
          <a:xfrm>
            <a:off x="548640" y="320040"/>
            <a:ext cx="804672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548640" y="594360"/>
            <a:ext cx="804672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32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Final conclusion</a:t>
            </a:r>
            <a:endParaRPr sz="3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" name="Google Shape;276;p11"/>
          <p:cNvCxnSpPr/>
          <p:nvPr/>
        </p:nvCxnSpPr>
        <p:spPr>
          <a:xfrm>
            <a:off x="548640" y="1389888"/>
            <a:ext cx="804672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77" name="Google Shape;277;p11"/>
          <p:cNvSpPr/>
          <p:nvPr/>
        </p:nvSpPr>
        <p:spPr>
          <a:xfrm>
            <a:off x="602342" y="1691640"/>
            <a:ext cx="4061097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Main takeaways</a:t>
            </a:r>
            <a:endParaRPr sz="1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1"/>
          <p:cNvSpPr/>
          <p:nvPr/>
        </p:nvSpPr>
        <p:spPr>
          <a:xfrm>
            <a:off x="548640" y="2148840"/>
            <a:ext cx="411480" cy="411480"/>
          </a:xfrm>
          <a:prstGeom prst="ellipse">
            <a:avLst/>
          </a:prstGeom>
          <a:solidFill>
            <a:srgbClr val="15B8C9"/>
          </a:solidFill>
          <a:ln w="12700" cap="flat" cmpd="sng">
            <a:solidFill>
              <a:srgbClr val="15B8C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1"/>
          <p:cNvSpPr/>
          <p:nvPr/>
        </p:nvSpPr>
        <p:spPr>
          <a:xfrm>
            <a:off x="548640" y="214884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1"/>
          <p:cNvSpPr/>
          <p:nvPr/>
        </p:nvSpPr>
        <p:spPr>
          <a:xfrm>
            <a:off x="1097280" y="214884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ELECTRA Small was the strongest model overall at 97.78%.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1"/>
          <p:cNvSpPr/>
          <p:nvPr/>
        </p:nvSpPr>
        <p:spPr>
          <a:xfrm>
            <a:off x="548640" y="2743200"/>
            <a:ext cx="411480" cy="411480"/>
          </a:xfrm>
          <a:prstGeom prst="ellipse">
            <a:avLst/>
          </a:prstGeom>
          <a:solidFill>
            <a:srgbClr val="2C5BE5"/>
          </a:solidFill>
          <a:ln w="12700" cap="flat" cmpd="sng">
            <a:solidFill>
              <a:srgbClr val="2C5BE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1"/>
          <p:cNvSpPr/>
          <p:nvPr/>
        </p:nvSpPr>
        <p:spPr>
          <a:xfrm>
            <a:off x="548640" y="274320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1"/>
          <p:cNvSpPr/>
          <p:nvPr/>
        </p:nvSpPr>
        <p:spPr>
          <a:xfrm>
            <a:off x="1097280" y="274320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Linear SVM + TF-IDF remained the best classical baseline at 93.62%.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1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1FB17A"/>
          </a:solidFill>
          <a:ln w="12700" cap="flat" cmpd="sng">
            <a:solidFill>
              <a:srgbClr val="1FB1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1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1"/>
          <p:cNvSpPr/>
          <p:nvPr/>
        </p:nvSpPr>
        <p:spPr>
          <a:xfrm>
            <a:off x="1097280" y="3337560"/>
            <a:ext cx="35661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  <a:buFont typeface="Calibri"/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Transformers improved accuracy, but classical models were faster and easier to explain.</a:t>
            </a:r>
            <a:endParaRPr sz="12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1"/>
          <p:cNvSpPr/>
          <p:nvPr/>
        </p:nvSpPr>
        <p:spPr>
          <a:xfrm>
            <a:off x="4937760" y="169164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400"/>
              <a:buFont typeface="Calibri"/>
              <a:buNone/>
            </a:pPr>
            <a:r>
              <a:rPr lang="en-US" sz="14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Possible next improvements</a:t>
            </a:r>
            <a:endParaRPr sz="14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1"/>
          <p:cNvSpPr/>
          <p:nvPr/>
        </p:nvSpPr>
        <p:spPr>
          <a:xfrm>
            <a:off x="4937760" y="2103120"/>
            <a:ext cx="3657600" cy="1280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1. Use full article text, not only headlines.</a:t>
            </a:r>
          </a:p>
          <a:p>
            <a:pPr marR="0" lvl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200"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2. Inspect ELECTRA errors and ambiguous cases.</a:t>
            </a:r>
            <a:endParaRPr dirty="0">
              <a:solidFill>
                <a:schemeClr val="bg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3. Try an ensemble between ELECTRA and Linear SVM</a:t>
            </a:r>
            <a:r>
              <a:rPr lang="en-US" sz="1200" dirty="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dirty="0"/>
          </a:p>
        </p:txBody>
      </p:sp>
      <p:sp>
        <p:nvSpPr>
          <p:cNvPr id="289" name="Google Shape;289;p11"/>
          <p:cNvSpPr/>
          <p:nvPr/>
        </p:nvSpPr>
        <p:spPr>
          <a:xfrm>
            <a:off x="4937760" y="3657600"/>
            <a:ext cx="3657600" cy="960120"/>
          </a:xfrm>
          <a:prstGeom prst="rect">
            <a:avLst/>
          </a:prstGeom>
          <a:solidFill>
            <a:srgbClr val="F1F5F9"/>
          </a:solidFill>
          <a:ln w="12700" cap="flat" cmpd="sng">
            <a:solidFill>
              <a:srgbClr val="F1F5F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1"/>
          <p:cNvSpPr/>
          <p:nvPr/>
        </p:nvSpPr>
        <p:spPr>
          <a:xfrm>
            <a:off x="4937760" y="3657600"/>
            <a:ext cx="54864" cy="960120"/>
          </a:xfrm>
          <a:prstGeom prst="rect">
            <a:avLst/>
          </a:prstGeom>
          <a:solidFill>
            <a:srgbClr val="1FB17A"/>
          </a:solidFill>
          <a:ln w="12700" cap="flat" cmpd="sng">
            <a:solidFill>
              <a:srgbClr val="1FB17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1"/>
          <p:cNvSpPr/>
          <p:nvPr/>
        </p:nvSpPr>
        <p:spPr>
          <a:xfrm>
            <a:off x="5166360" y="3794760"/>
            <a:ext cx="33375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FB17A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1FB17A"/>
                </a:solidFill>
                <a:latin typeface="Calibri"/>
                <a:ea typeface="Calibri"/>
                <a:cs typeface="Calibri"/>
                <a:sym typeface="Calibri"/>
              </a:rPr>
              <a:t>Deliverable completed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1"/>
          <p:cNvSpPr/>
          <p:nvPr/>
        </p:nvSpPr>
        <p:spPr>
          <a:xfrm>
            <a:off x="5166360" y="4114800"/>
            <a:ext cx="33375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1400"/>
              <a:buFont typeface="Calibri"/>
              <a:buNone/>
            </a:pPr>
            <a:r>
              <a:rPr lang="en-US" sz="1400">
                <a:solidFill>
                  <a:srgbClr val="0E1A2B"/>
                </a:solidFill>
                <a:latin typeface="Calibri"/>
                <a:ea typeface="Calibri"/>
                <a:cs typeface="Calibri"/>
                <a:sym typeface="Calibri"/>
              </a:rPr>
              <a:t>Notebook + classical CSV + ELECTRA CSV (9,984 rows)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/>
          <p:nvPr/>
        </p:nvSpPr>
        <p:spPr>
          <a:xfrm>
            <a:off x="8229600" y="4754880"/>
            <a:ext cx="6400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127504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BFC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Copied Picture 303">
            <a:extLst>
              <a:ext uri="{FF2B5EF4-FFF2-40B4-BE49-F238E27FC236}">
                <a16:creationId xmlns:a16="http://schemas.microsoft.com/office/drawing/2014/main" id="{C7C74DA1-68AC-4B4A-467F-7C5744FCAF2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20000"/>
          </a:blip>
          <a:stretch>
            <a:fillRect/>
          </a:stretch>
        </p:blipFill>
        <p:spPr>
          <a:xfrm>
            <a:off x="0" y="-139700"/>
            <a:ext cx="9398000" cy="52832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  <a:reflection stA="74000" endPos="65000" dist="50800" dir="5400000" sy="-100000" algn="bl" rotWithShape="0"/>
          </a:effectLst>
        </p:spPr>
      </p:pic>
      <p:sp>
        <p:nvSpPr>
          <p:cNvPr id="299" name="Google Shape;299;g3e1cd5a3c66_0_0"/>
          <p:cNvSpPr/>
          <p:nvPr/>
        </p:nvSpPr>
        <p:spPr>
          <a:xfrm>
            <a:off x="548640" y="320040"/>
            <a:ext cx="80466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2C5BE5"/>
              </a:buClr>
              <a:buSzPts val="1000"/>
              <a:buFont typeface="Calibri"/>
              <a:buNone/>
            </a:pPr>
            <a:r>
              <a:rPr lang="en-US" sz="1600" b="1" dirty="0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FAKE NEWS CLASSIFIER</a:t>
            </a:r>
            <a:endParaRPr sz="1600" dirty="0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g3e1cd5a3c66_0_0"/>
          <p:cNvSpPr/>
          <p:nvPr/>
        </p:nvSpPr>
        <p:spPr>
          <a:xfrm>
            <a:off x="486025" y="1925876"/>
            <a:ext cx="8046600" cy="14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E1A2B"/>
              </a:buClr>
              <a:buSzPts val="3200"/>
              <a:buFont typeface="Calibri"/>
              <a:buNone/>
            </a:pPr>
            <a:r>
              <a:rPr lang="en-US" sz="49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9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g3e1cd5a3c66_0_0"/>
          <p:cNvCxnSpPr/>
          <p:nvPr/>
        </p:nvCxnSpPr>
        <p:spPr>
          <a:xfrm>
            <a:off x="548640" y="1389888"/>
            <a:ext cx="8046600" cy="0"/>
          </a:xfrm>
          <a:prstGeom prst="straightConnector1">
            <a:avLst/>
          </a:prstGeom>
          <a:noFill/>
          <a:ln w="12700" cap="flat" cmpd="sng">
            <a:solidFill>
              <a:srgbClr val="E3E7E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2" name="Google Shape;302;g3e1cd5a3c66_0_0"/>
          <p:cNvSpPr/>
          <p:nvPr/>
        </p:nvSpPr>
        <p:spPr>
          <a:xfrm>
            <a:off x="8229600" y="4754880"/>
            <a:ext cx="640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785"/>
              </a:buClr>
              <a:buSzPts val="900"/>
              <a:buFont typeface="Calibri"/>
              <a:buNone/>
            </a:pPr>
            <a:r>
              <a:rPr lang="en-US" sz="1000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896695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8EC9A51-BD2F-4227-B246-769AE46877B5}">
  <we:reference id="wa200010001" version="1.0.0.1" store="en-US" storeType="OMEX"/>
  <we:alternateReferences>
    <we:reference id="wa200010001" version="1.0.0.1" store="en-US" storeType="OMEX"/>
  </we:alternateReferences>
  <we:properties>
    <we:property name="claude.fileId" value="&quot;df460db6-f3e1-4331-bcd9-582bf42f9d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120</TotalTime>
  <Words>948</Words>
  <Application>Microsoft Office PowerPoint</Application>
  <PresentationFormat>On-screen Show (16:9)</PresentationFormat>
  <Paragraphs>196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Irish, Juan Álvaro, Gregori</dc:creator>
  <cp:lastModifiedBy>Irish Levi</cp:lastModifiedBy>
  <cp:revision>4</cp:revision>
  <dcterms:created xsi:type="dcterms:W3CDTF">2026-05-13T19:04:57Z</dcterms:created>
  <dcterms:modified xsi:type="dcterms:W3CDTF">2026-05-14T15:11:37Z</dcterms:modified>
</cp:coreProperties>
</file>